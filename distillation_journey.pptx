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pilot is done: a 744B teacher model served, a verified lesson corpus generated, the first student trained, and the whole playbook written. This deck covers the philosophy and patterns, not the infrastructure minutiae.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economics: the teacher is brilliant but needs a rack of 16 flagship GPUs per instance. The students run on one to four GPUs. The target is quantified: keep at least 75% of the teacher's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Distillation is not compression of the model file — it is apprenticeship through worked examples. The key differentiator of this project: we capture the teacher's per-word confidence map, not just its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students make this an experiment, not just an engineering task. Student A shares the teacher's vocabulary and can learn from the confidence map (the thick pipe). Student B, from a different family, learns from text alone — the control condition.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data-side heart of the project. Most distillation datasets store only text. Ours stores, at every one of up to 8,192 positions per lesson, the teacher's top-20 candidate tokens with log-probabilities — captured live during generation. The thinking trace is deliberately kept inside the stream so the confidence map covers the reasoning as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loss blends two signals: cross-entropy on the exact next token (hard target) and a temperature-scaled KL divergence toward the teacher's top-20 distribution (soft targets), weighted alpha = 0.5 with T = 2. The diagram shows why soft targets are richer: the student has the right top pick but the wrong shape — KL fixes the shape. The token-exact packing is what makes the stored distributions line up 1:1 with training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phasing discipline: a tiny rehearsal caught a landmine before the pilot; the pilot surfaced six discoveries before production. Each phase answers one question and unlocks the next — no phase is skipped.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alternative to a loud gate is silent degradation you discover after spending the production budget. All three gates fired for real during the pilot: the vocabulary mismatch, the contamination screen, and the reasoning-format guard.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the go/no-go number finally arrives, its credibility comes from this slide: deterministic seeds, fingerprinted artifacts, and a same-day journal backed by version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in five verbs: curate, teach, package, train, grade. One cost pattern worth naming: the same GPU fleet first serves the teacher, then is torn down and retrained as the classroom — time-slicing instead of renting two clusters.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Curriculum quality over volume: dedup, screening against the public exams we grade with, an enforced skill mix, and best-of-four generation with the teacher judging its own drafts. The mix was redesigned after review — away from competition puzzles toward practical assistant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valuable slide of the pilot. The regression was real but self-inflicted: the packaging step erased the thinking format, and the grading tools were built for non-thinking models. Both fixes are code, already committed. The pattern: negative results are assets — this one was caught in the pilot phase, not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moves, each gated by the previous: an honest re-measurement of v0, a validation phase for the production recipe, then the full production run with a quantified success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principles, not the tech: tiered spending, loud failures, deterministic reruns, negative results treated as purchases, and a journal that keeps every claim auditable. The production run is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 DISTILLATION  ·  PILOT REPORT  ·  JULY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Distilling a Giant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744-billion-parameter model to pass its skills to students a fraction of its size — the philosophy, the patterns, and what the pilot bought.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  ·  pilot complete  ·  production next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89320" y="914400"/>
            <a:ext cx="1600200" cy="1600200"/>
          </a:xfrm>
          <a:prstGeom prst="ellipse">
            <a:avLst/>
          </a:prstGeom>
          <a:solidFill>
            <a:srgbClr val="2A3573"/>
          </a:solidFill>
          <a:ln w="28575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89320" y="91440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744B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0" y="2971800"/>
            <a:ext cx="960120" cy="960120"/>
          </a:xfrm>
          <a:prstGeom prst="ellipse">
            <a:avLst/>
          </a:prstGeom>
          <a:solidFill>
            <a:srgbClr val="2230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29718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3383280"/>
            <a:ext cx="731520" cy="731520"/>
          </a:xfrm>
          <a:prstGeom prst="ellipse">
            <a:avLst/>
          </a:prstGeom>
          <a:solidFill>
            <a:srgbClr val="2230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69480" y="2395728"/>
            <a:ext cx="777240" cy="566928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>
            <a:off x="6419088" y="2542032"/>
            <a:ext cx="109728" cy="777240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06640" y="2395728"/>
            <a:ext cx="64008" cy="6400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35240" y="2606040"/>
            <a:ext cx="64008" cy="6400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743200"/>
            <a:ext cx="64008" cy="6400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55664" y="3017520"/>
            <a:ext cx="64008" cy="6400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9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Frontier skill, unaffordable to serve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977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 is one of the strongest AI models available — and one of the most impractical. Answering a single user takes a rack of sixteen flagship GPUs.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models run anywhere for pennies — but they are visibly weaker.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is the bridge: move most of the giant's capability into models cheap enough to deploy everywhere.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886200"/>
            <a:ext cx="3977640" cy="777240"/>
          </a:xfrm>
          <a:prstGeom prst="roundRect">
            <a:avLst>
              <a:gd name="adj" fmla="val 8235"/>
            </a:avLst>
          </a:prstGeom>
          <a:solidFill>
            <a:srgbClr val="FBF0DC"/>
          </a:solidFill>
          <a:ln w="12700">
            <a:solidFill>
              <a:srgbClr val="FBF0DC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404164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416052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38862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students keep ≥ 75% of the teacher's quality at a tenth of the serving cost.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92040" y="1298448"/>
            <a:ext cx="3703320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74920" y="1298448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744B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6720840" y="1298448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16 flagship GPUs to answer one user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739128" y="2807208"/>
            <a:ext cx="0" cy="338328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892040" y="3200400"/>
            <a:ext cx="3703320" cy="1417320"/>
          </a:xfrm>
          <a:prstGeom prst="roundRect">
            <a:avLst>
              <a:gd name="adj" fmla="val 4516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074920" y="320040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8–106B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720840" y="320040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1–4 GPUs — deployable at scale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9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Distillation is apprenticeship, not compression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069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shrunk or pruned. The teacher writes tens of thousands of worked answers — reasoning first, conclusion last — and the students train on them until the teacher's habits become their own.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twist: at every single word, we also record the top-20 alternatives the teacher weighed — each with its probability.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the lesson — the marginalia of its thinking.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0" y="1371600"/>
            <a:ext cx="713232" cy="713232"/>
          </a:xfrm>
          <a:prstGeom prst="ellipse">
            <a:avLst/>
          </a:prstGeom>
          <a:solidFill>
            <a:srgbClr val="F1F6FE"/>
          </a:solidFill>
          <a:ln w="12700">
            <a:solidFill>
              <a:srgbClr val="F1F6F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4640" y="1557040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131673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works the problem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 out loud, step by step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385816" y="2121408"/>
            <a:ext cx="0" cy="493776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029200" y="2651760"/>
            <a:ext cx="713232" cy="713232"/>
          </a:xfrm>
          <a:prstGeom prst="ellipse">
            <a:avLst/>
          </a:prstGeom>
          <a:solidFill>
            <a:srgbClr val="FBF0DC"/>
          </a:solidFill>
          <a:ln w="12700">
            <a:solidFill>
              <a:srgbClr val="FBF0D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640" y="2837200"/>
            <a:ext cx="342351" cy="3423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0" y="25968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lesson with margin notes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carries the teacher's confidence map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385816" y="3401568"/>
            <a:ext cx="0" cy="493776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5029200" y="3931920"/>
            <a:ext cx="713232" cy="713232"/>
          </a:xfrm>
          <a:prstGeom prst="ellipse">
            <a:avLst/>
          </a:prstGeom>
          <a:solidFill>
            <a:srgbClr val="F1F6FE"/>
          </a:solidFill>
          <a:ln w="12700">
            <a:solidFill>
              <a:srgbClr val="F1F6F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640" y="4117360"/>
            <a:ext cx="342351" cy="3423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43600" y="387705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practices until it matches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against the teacher itself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9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students, two learning channels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417320" cy="14173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574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05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 flipV="1">
            <a:off x="2103120" y="2057400"/>
            <a:ext cx="2377440" cy="566928"/>
          </a:xfrm>
          <a:prstGeom prst="line">
            <a:avLst/>
          </a:prstGeom>
          <a:noFill/>
          <a:ln w="635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03120" y="2971800"/>
            <a:ext cx="2377440" cy="777240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0" y="1298448"/>
            <a:ext cx="4023360" cy="1481328"/>
          </a:xfrm>
          <a:prstGeom prst="roundRect">
            <a:avLst>
              <a:gd name="adj" fmla="val 4321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41732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 — GLM-4.5-Air (106B, same family)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Hears the words and receives the teacher's top-20 probabilities at every token — possible only because teacher and student share a vocabulary.</a:t>
            </a:r>
            <a:endParaRPr lang="en-US" sz="1250" dirty="0"/>
          </a:p>
          <a:p>
            <a:pPr indent="0" marL="0">
              <a:buNone/>
            </a:pPr>
            <a:r>
              <a:rPr lang="en-US" sz="900" b="1" spc="200" kern="0" dirty="0">
                <a:solidFill>
                  <a:srgbClr val="B9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CHANNEL · WORDS + TOP-20 LOGPROBS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3035808"/>
            <a:ext cx="4023360" cy="1481328"/>
          </a:xfrm>
          <a:prstGeom prst="roundRect">
            <a:avLst>
              <a:gd name="adj" fmla="val 4321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315468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 — Qwen3-8B (different family)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the finished lessons alone — the plain-imitation baseline every distillation must beat.</a:t>
            </a:r>
            <a:endParaRPr lang="en-US" sz="1250" dirty="0"/>
          </a:p>
          <a:p>
            <a:pPr indent="0" marL="0">
              <a:buNone/>
            </a:pPr>
            <a:r>
              <a:rPr lang="en-US" sz="900" b="1" spc="2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CHANNEL · WORDS ONLY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6451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pilot's central question: does the rich channel beat plain imitation by enough to justify its machinery?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9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DATA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lesson actually contains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lesson is not just the teacher's answer text.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teacher writes, it is choosing each token from ranked candidates. At every position — up to 8,192 per lesson — we store the chosen token plus the top-20 alternatives it weighed, with their log-probabilities: the teacher's confidence map at that instant.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trace is kept in the stream, so the confidence map covers the thinking too — not just the polished answer.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4343400"/>
            <a:ext cx="1261872" cy="457200"/>
          </a:xfrm>
          <a:prstGeom prst="roundRect">
            <a:avLst>
              <a:gd name="adj" fmla="val 44000"/>
            </a:avLst>
          </a:prstGeom>
          <a:solidFill>
            <a:srgbClr val="FBF0DC"/>
          </a:solidFill>
          <a:ln w="12700">
            <a:solidFill>
              <a:srgbClr val="EAD3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343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8,192 tokens / lesson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1920240" y="4343400"/>
            <a:ext cx="1261872" cy="457200"/>
          </a:xfrm>
          <a:prstGeom prst="roundRect">
            <a:avLst>
              <a:gd name="adj" fmla="val 44000"/>
            </a:avLst>
          </a:prstGeom>
          <a:solidFill>
            <a:srgbClr val="FBF0DC"/>
          </a:solidFill>
          <a:ln w="12700">
            <a:solidFill>
              <a:srgbClr val="EAD3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4343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alternatives / token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3291840" y="4343400"/>
            <a:ext cx="1261872" cy="457200"/>
          </a:xfrm>
          <a:prstGeom prst="roundRect">
            <a:avLst>
              <a:gd name="adj" fmla="val 44000"/>
            </a:avLst>
          </a:prstGeom>
          <a:solidFill>
            <a:srgbClr val="FBF0DC"/>
          </a:solidFill>
          <a:ln w="12700">
            <a:solidFill>
              <a:srgbClr val="EAD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43434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preserved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258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85232" y="1325880"/>
            <a:ext cx="932688" cy="347472"/>
          </a:xfrm>
          <a:prstGeom prst="roundRect">
            <a:avLst>
              <a:gd name="adj" fmla="val 15789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85232" y="132588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derivative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91072" y="1325880"/>
            <a:ext cx="384048" cy="347472"/>
          </a:xfrm>
          <a:prstGeom prst="roundRect">
            <a:avLst>
              <a:gd name="adj" fmla="val 15789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3258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48272" y="1325880"/>
            <a:ext cx="420624" cy="347472"/>
          </a:xfrm>
          <a:prstGeom prst="roundRect">
            <a:avLst>
              <a:gd name="adj" fmla="val 15789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132588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x²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42048" y="1325880"/>
            <a:ext cx="384048" cy="347472"/>
          </a:xfrm>
          <a:prstGeom prst="roundRect">
            <a:avLst>
              <a:gd name="adj" fmla="val 15789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42048" y="13258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99248" y="132588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9248" y="13258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99248" y="1737360"/>
            <a:ext cx="0" cy="292608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09160" y="2103120"/>
            <a:ext cx="3886200" cy="2697480"/>
          </a:xfrm>
          <a:prstGeom prst="roundRect">
            <a:avLst>
              <a:gd name="adj" fmla="val 2373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22128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teacher's confidence at this one position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57860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2x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0" y="2615184"/>
            <a:ext cx="1920240" cy="164592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62672" y="257860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37760" y="29077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2944368"/>
            <a:ext cx="293370" cy="164592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802" y="29077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37760" y="32369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3273552"/>
            <a:ext cx="160020" cy="164592"/>
          </a:xfrm>
          <a:prstGeom prst="roundRect">
            <a:avLst>
              <a:gd name="adj" fmla="val 1714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02452" y="32369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37760" y="35661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3602736"/>
            <a:ext cx="106680" cy="164592"/>
          </a:xfrm>
          <a:prstGeom prst="roundRect">
            <a:avLst>
              <a:gd name="adj" fmla="val 25714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49112" y="35661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37760" y="38953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69280" y="3931920"/>
            <a:ext cx="54864" cy="164592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95772" y="38953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37760" y="43159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…plus 15 more, stored as log-probabilities — the model's native unit of confidence.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9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RICH CHANNEL, MECHANICALLY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signals in one loss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160520" cy="1389888"/>
          </a:xfrm>
          <a:prstGeom prst="roundRect">
            <a:avLst>
              <a:gd name="adj" fmla="val 4605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1 — say the right word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training: cross-entropy on the teacher's actual next token. This alone is plain imitation — all that Student B can receive.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4160520" cy="1389888"/>
          </a:xfrm>
          <a:prstGeom prst="roundRect">
            <a:avLst>
              <a:gd name="adj" fmla="val 4605"/>
            </a:avLst>
          </a:prstGeom>
          <a:solidFill>
            <a:srgbClr val="FBF0DC"/>
          </a:solidFill>
          <a:ln w="12700">
            <a:solidFill>
              <a:srgbClr val="FBF0DC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301752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2 — weigh alternatives like the teacher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KL-divergence term pulls the student's probabilities toward the teacher's top-20. Every token now teaches a whole ranking, not one right answer.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92040" y="1325880"/>
            <a:ext cx="370332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C9D8F2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74920" y="13990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TOP-20 (FIRST 4 SHOWN)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74920" y="16916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2x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15000" y="1719072"/>
            <a:ext cx="1737360" cy="13716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25512" y="16916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74920" y="19385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2·x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15000" y="1965960"/>
            <a:ext cx="265430" cy="13716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582" y="1938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74920" y="21854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15000" y="2212848"/>
            <a:ext cx="144780" cy="13716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32932" y="21854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74920" y="24323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715000" y="2459736"/>
            <a:ext cx="96520" cy="137160"/>
          </a:xfrm>
          <a:prstGeom prst="roundRect">
            <a:avLst>
              <a:gd name="adj" fmla="val 28421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84672" y="24323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92040" y="2880360"/>
            <a:ext cx="370332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C9D8F2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74920" y="29535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EARLY IN TRAINING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74920" y="32461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2x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715000" y="3273552"/>
            <a:ext cx="916940" cy="13716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05092" y="32461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74920" y="349300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2·x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15000" y="3520440"/>
            <a:ext cx="217170" cy="13716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05322" y="34930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74920" y="37398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15000" y="3767328"/>
            <a:ext cx="748030" cy="137160"/>
          </a:xfrm>
          <a:prstGeom prst="roundRect">
            <a:avLst>
              <a:gd name="adj" fmla="val 20000"/>
            </a:avLst>
          </a:prstGeom>
          <a:solidFill>
            <a:srgbClr val="B4433A"/>
          </a:solidFill>
          <a:ln w="12700">
            <a:solidFill>
              <a:srgbClr val="B443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6182" y="37398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74920" y="398678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715000" y="4014216"/>
            <a:ext cx="289560" cy="13716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77712" y="39867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183880" y="2743200"/>
            <a:ext cx="0" cy="16459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4892040" y="2715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pulls this shape to match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8640" y="4315968"/>
            <a:ext cx="8046720" cy="530352"/>
          </a:xfrm>
          <a:prstGeom prst="roundRect">
            <a:avLst>
              <a:gd name="adj" fmla="val 1206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22960" y="435254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(1 − α) · CE(next word)  +  α · T² · KL( teacher ∥ student )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α = 0.5, temperature T = 2 — softening both distributions so near-misses still teach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48828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possible because lessons are token-exact: the student trains on the teacher's own token ids (36 moved ids translated), so every stored top-20 aligns 1:1 with its labels.</a:t>
            </a:r>
            <a:endParaRPr lang="en-US" sz="8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9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phase must earn the next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is bigger than the last, so each exists to answer exactly one question — and only its answer unlocks the phase after it.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3749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Rehearsal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4133088"/>
            <a:ext cx="15727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every stage run end-to-end?</a:t>
            </a:r>
            <a:endParaRPr lang="en-US" sz="98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3785616"/>
            <a:ext cx="237744" cy="237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606040" y="3200400"/>
            <a:ext cx="1828800" cy="1417320"/>
          </a:xfrm>
          <a:prstGeom prst="roundRect">
            <a:avLst>
              <a:gd name="adj" fmla="val 4516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74320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743200" y="3675888"/>
            <a:ext cx="157276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idea survive contact with the giant? (answered: six discoveries)</a:t>
            </a:r>
            <a:endParaRPr lang="en-US" sz="98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368" y="3328416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663440" y="2743200"/>
            <a:ext cx="1828800" cy="1874520"/>
          </a:xfrm>
          <a:prstGeom prst="roundRect">
            <a:avLst>
              <a:gd name="adj" fmla="val 3500"/>
            </a:avLst>
          </a:prstGeom>
          <a:solidFill>
            <a:srgbClr val="FBF0DC"/>
          </a:solidFill>
          <a:ln w="12700">
            <a:solidFill>
              <a:srgbClr val="C9D8F2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80060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800600" y="3218688"/>
            <a:ext cx="157276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production curriculum hold up against the real teacher?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6720840" y="2286000"/>
            <a:ext cx="1828800" cy="2331720"/>
          </a:xfrm>
          <a:prstGeom prst="roundRect">
            <a:avLst>
              <a:gd name="adj" fmla="val 3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85800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6858000" y="2761488"/>
            <a:ext cx="1572768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run — both students trained at scale, the go / no-go result</a:t>
            </a:r>
            <a:endParaRPr lang="en-US" sz="980" dirty="0"/>
          </a:p>
        </p:txBody>
      </p:sp>
      <p:sp>
        <p:nvSpPr>
          <p:cNvPr id="19" name="Text 15"/>
          <p:cNvSpPr/>
          <p:nvPr/>
        </p:nvSpPr>
        <p:spPr>
          <a:xfrm>
            <a:off x="548640" y="470916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E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663440" y="470916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B9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9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 loud, never silently degrade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212848"/>
            <a:ext cx="7680960" cy="0"/>
          </a:xfrm>
          <a:prstGeom prst="line">
            <a:avLst/>
          </a:prstGeom>
          <a:noFill/>
          <a:ln w="444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640080" y="1847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→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911096" y="1847088"/>
            <a:ext cx="201168" cy="749808"/>
          </a:xfrm>
          <a:prstGeom prst="roundRect">
            <a:avLst>
              <a:gd name="adj" fmla="val 2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28216" y="1170432"/>
            <a:ext cx="566928" cy="566928"/>
          </a:xfrm>
          <a:prstGeom prst="ellipse">
            <a:avLst/>
          </a:prstGeom>
          <a:solidFill>
            <a:srgbClr val="F1F6FE"/>
          </a:solidFill>
          <a:ln w="12700">
            <a:solidFill>
              <a:srgbClr val="F1F6F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5617" y="1317833"/>
            <a:ext cx="272125" cy="2721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2834640"/>
            <a:ext cx="2194560" cy="1371600"/>
          </a:xfrm>
          <a:prstGeom prst="roundRect">
            <a:avLst>
              <a:gd name="adj" fmla="val 4667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69848" y="2944368"/>
            <a:ext cx="188366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gate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teacher and student speak the same token language? Exact, translate — or halt.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34256" y="1847088"/>
            <a:ext cx="201168" cy="749808"/>
          </a:xfrm>
          <a:prstGeom prst="roundRect">
            <a:avLst>
              <a:gd name="adj" fmla="val 2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51376" y="1170432"/>
            <a:ext cx="566928" cy="566928"/>
          </a:xfrm>
          <a:prstGeom prst="ellipse">
            <a:avLst/>
          </a:prstGeom>
          <a:solidFill>
            <a:srgbClr val="F1F6FE"/>
          </a:solidFill>
          <a:ln w="12700">
            <a:solidFill>
              <a:srgbClr val="F1F6F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777" y="1317833"/>
            <a:ext cx="272125" cy="2721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337560" y="2834640"/>
            <a:ext cx="2194560" cy="1371600"/>
          </a:xfrm>
          <a:prstGeom prst="roundRect">
            <a:avLst>
              <a:gd name="adj" fmla="val 4667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493008" y="2944368"/>
            <a:ext cx="188366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gate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exam questions in the training data. One overlap stops the build dead.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757416" y="1847088"/>
            <a:ext cx="201168" cy="749808"/>
          </a:xfrm>
          <a:prstGeom prst="roundRect">
            <a:avLst>
              <a:gd name="adj" fmla="val 2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74536" y="1170432"/>
            <a:ext cx="566928" cy="566928"/>
          </a:xfrm>
          <a:prstGeom prst="ellipse">
            <a:avLst/>
          </a:prstGeom>
          <a:solidFill>
            <a:srgbClr val="F1F6FE"/>
          </a:solidFill>
          <a:ln w="12700">
            <a:solidFill>
              <a:srgbClr val="F1F6F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937" y="1317833"/>
            <a:ext cx="272125" cy="27212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760720" y="2834640"/>
            <a:ext cx="2194560" cy="1371600"/>
          </a:xfrm>
          <a:prstGeom prst="roundRect">
            <a:avLst>
              <a:gd name="adj" fmla="val 4667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5916168" y="2944368"/>
            <a:ext cx="188366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guard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teacher's reasoning must survive repackaging — if a template strips it, we halt.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gates caught a real problem during the pilot — failures that would otherwise have poisoned the production run invisibly.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9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 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claim can be audited, any result re-derived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0" cy="2331720"/>
          </a:xfrm>
          <a:prstGeom prst="roundRect">
            <a:avLst>
              <a:gd name="adj" fmla="val 2745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151" y="180283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774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seed everywhere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random choice — sampling, shuffling, judging — derives from a single seed. Rerunning any stage reproduces it exactly.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417320"/>
            <a:ext cx="2560320" cy="2331720"/>
          </a:xfrm>
          <a:prstGeom prst="roundRect">
            <a:avLst>
              <a:gd name="adj" fmla="val 2745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20440" y="1645920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351" y="1802831"/>
            <a:ext cx="289682" cy="2896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23774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Fingerprinted artifacts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dataset and checkpoint ships with a cryptographic manifest. Drift or tampering is detectable; provenance is provable.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035040" y="1417320"/>
            <a:ext cx="2560320" cy="2331720"/>
          </a:xfrm>
          <a:prstGeom prst="roundRect">
            <a:avLst>
              <a:gd name="adj" fmla="val 2745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263640" y="1645920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551" y="1802831"/>
            <a:ext cx="289682" cy="28968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23774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+ version control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incidents and spend logged the day they happen. The code history mirrors the story — claims are checkable.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 the final number is manufactured here — long before the number exists.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9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stages, one GPU fleet worn two ways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87552" y="1298448"/>
            <a:ext cx="566928" cy="566928"/>
          </a:xfrm>
          <a:prstGeom prst="ellipse">
            <a:avLst/>
          </a:prstGeom>
          <a:solidFill>
            <a:srgbClr val="F1F6FE"/>
          </a:solidFill>
          <a:ln w="12700">
            <a:solidFill>
              <a:srgbClr val="F1F6F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953" y="1445849"/>
            <a:ext cx="272125" cy="272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011680"/>
            <a:ext cx="1444752" cy="1572768"/>
          </a:xfrm>
          <a:prstGeom prst="roundRect">
            <a:avLst>
              <a:gd name="adj" fmla="val 4430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" y="2121408"/>
            <a:ext cx="1225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</a:t>
            </a:r>
            <a:endParaRPr lang="en-US" sz="1150" dirty="0"/>
          </a:p>
          <a:p>
            <a:pPr indent="0" marL="0">
              <a:buNone/>
            </a:pPr>
            <a:r>
              <a:rPr lang="en-US" sz="93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150k questions, balanced across skills, exam-screened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011680" y="2798064"/>
            <a:ext cx="173736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35758" y="1298448"/>
            <a:ext cx="566928" cy="566928"/>
          </a:xfrm>
          <a:prstGeom prst="ellipse">
            <a:avLst/>
          </a:prstGeom>
          <a:solidFill>
            <a:srgbClr val="F1F6FE"/>
          </a:solidFill>
          <a:ln w="12700">
            <a:solidFill>
              <a:srgbClr val="F1F6F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159" y="1445849"/>
            <a:ext cx="272125" cy="27212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96846" y="2011680"/>
            <a:ext cx="1444752" cy="1572768"/>
          </a:xfrm>
          <a:prstGeom prst="roundRect">
            <a:avLst>
              <a:gd name="adj" fmla="val 4430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306574" y="2121408"/>
            <a:ext cx="1225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150" dirty="0"/>
          </a:p>
          <a:p>
            <a:pPr indent="0" marL="0">
              <a:buNone/>
            </a:pPr>
            <a:r>
              <a:rPr lang="en-US" sz="93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giant writes each lesson 4 ways, keeps its best — thinking included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659886" y="2798064"/>
            <a:ext cx="173736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83964" y="1298448"/>
            <a:ext cx="566928" cy="566928"/>
          </a:xfrm>
          <a:prstGeom prst="ellipse">
            <a:avLst/>
          </a:prstGeom>
          <a:solidFill>
            <a:srgbClr val="F1F6FE"/>
          </a:solidFill>
          <a:ln w="12700">
            <a:solidFill>
              <a:srgbClr val="F1F6F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365" y="1445849"/>
            <a:ext cx="272125" cy="27212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845052" y="2011680"/>
            <a:ext cx="1444752" cy="1572768"/>
          </a:xfrm>
          <a:prstGeom prst="roundRect">
            <a:avLst>
              <a:gd name="adj" fmla="val 4430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3954780" y="2121408"/>
            <a:ext cx="1225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150" dirty="0"/>
          </a:p>
          <a:p>
            <a:pPr indent="0" marL="0">
              <a:buNone/>
            </a:pPr>
            <a:r>
              <a:rPr lang="en-US" sz="93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lesson aligned to each student's own vocabulary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308092" y="2798064"/>
            <a:ext cx="173736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32170" y="1298448"/>
            <a:ext cx="566928" cy="566928"/>
          </a:xfrm>
          <a:prstGeom prst="ellipse">
            <a:avLst/>
          </a:prstGeom>
          <a:solidFill>
            <a:srgbClr val="F1F6FE"/>
          </a:solidFill>
          <a:ln w="12700">
            <a:solidFill>
              <a:srgbClr val="F1F6F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9571" y="1445849"/>
            <a:ext cx="272125" cy="27212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493258" y="2011680"/>
            <a:ext cx="1444752" cy="1572768"/>
          </a:xfrm>
          <a:prstGeom prst="roundRect">
            <a:avLst>
              <a:gd name="adj" fmla="val 4430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5602986" y="2121408"/>
            <a:ext cx="1225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50" dirty="0"/>
          </a:p>
          <a:p>
            <a:pPr indent="0" marL="0">
              <a:buNone/>
            </a:pPr>
            <a:r>
              <a:rPr lang="en-US" sz="93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channel for the sibling, text channel for the outsider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956298" y="2798064"/>
            <a:ext cx="173736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0376" y="1298448"/>
            <a:ext cx="566928" cy="566928"/>
          </a:xfrm>
          <a:prstGeom prst="ellipse">
            <a:avLst/>
          </a:prstGeom>
          <a:solidFill>
            <a:srgbClr val="F1F6FE"/>
          </a:solidFill>
          <a:ln w="12700">
            <a:solidFill>
              <a:srgbClr val="F1F6F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7777" y="1445849"/>
            <a:ext cx="272125" cy="272125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7141464" y="2011680"/>
            <a:ext cx="1444752" cy="1572768"/>
          </a:xfrm>
          <a:prstGeom prst="roundRect">
            <a:avLst>
              <a:gd name="adj" fmla="val 4430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7251192" y="2121408"/>
            <a:ext cx="1225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150" dirty="0"/>
          </a:p>
          <a:p>
            <a:pPr indent="0" marL="0">
              <a:buNone/>
            </a:pPr>
            <a:r>
              <a:rPr lang="en-US" sz="93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judges blind; public benchmarks confirm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548640" y="3931920"/>
            <a:ext cx="4837176" cy="566928"/>
          </a:xfrm>
          <a:prstGeom prst="roundRect">
            <a:avLst>
              <a:gd name="adj" fmla="val 1129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548640" y="3931920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1–4 · the fleet IS the teacher (serving)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495544" y="3931920"/>
            <a:ext cx="3099816" cy="566928"/>
          </a:xfrm>
          <a:prstGeom prst="roundRect">
            <a:avLst>
              <a:gd name="adj" fmla="val 11290"/>
            </a:avLst>
          </a:prstGeom>
          <a:solidFill>
            <a:srgbClr val="FBF0DC"/>
          </a:solidFill>
          <a:ln w="12700">
            <a:solidFill>
              <a:srgbClr val="FBF0DC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5495544" y="3931920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5–8 · the fleet becomes the classroom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48640" y="46451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GPUs, time-sliced — no idle hardware, no second cluster.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9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· CURRICULUM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volume for trust at every step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749040" cy="512064"/>
          </a:xfrm>
          <a:prstGeom prst="roundRect">
            <a:avLst>
              <a:gd name="adj" fmla="val 10714"/>
            </a:avLst>
          </a:prstGeom>
          <a:solidFill>
            <a:srgbClr val="E8F0FD"/>
          </a:solidFill>
          <a:ln w="12700">
            <a:solidFill>
              <a:srgbClr val="E8F0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25880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candidate pool — hundreds of thousands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1975104"/>
            <a:ext cx="3200400" cy="512064"/>
          </a:xfrm>
          <a:prstGeom prst="roundRect">
            <a:avLst>
              <a:gd name="adj" fmla="val 10714"/>
            </a:avLst>
          </a:prstGeom>
          <a:solidFill>
            <a:srgbClr val="D9E7FB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975104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near-duplicates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165860" y="2624328"/>
            <a:ext cx="2697480" cy="512064"/>
          </a:xfrm>
          <a:prstGeom prst="roundRect">
            <a:avLst>
              <a:gd name="adj" fmla="val 10714"/>
            </a:avLst>
          </a:prstGeom>
          <a:solidFill>
            <a:srgbClr val="C4DAF8"/>
          </a:solidFill>
          <a:ln w="12700">
            <a:solidFill>
              <a:srgbClr val="C4DA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9012" y="2624328"/>
            <a:ext cx="2551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against 6 public exams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17320" y="3273552"/>
            <a:ext cx="2194560" cy="512064"/>
          </a:xfrm>
          <a:prstGeom prst="roundRect">
            <a:avLst>
              <a:gd name="adj" fmla="val 10714"/>
            </a:avLst>
          </a:prstGeom>
          <a:solidFill>
            <a:srgbClr val="A9C6F0"/>
          </a:solidFill>
          <a:ln w="12700">
            <a:solidFill>
              <a:srgbClr val="A9C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90472" y="3273552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the skill mix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1623060" y="3922776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6212" y="3922776"/>
            <a:ext cx="1636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Best-of-4, judged, complete only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548640" y="4681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kept lesson is complete, unique, exam-clean, and the best of four attempts.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mix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120640" y="17556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&amp; debugging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0" y="1773936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47304" y="1755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20640" y="23225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&amp; reasoning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0" y="2340864"/>
            <a:ext cx="617220" cy="237744"/>
          </a:xfrm>
          <a:prstGeom prst="roundRect">
            <a:avLst>
              <a:gd name="adj" fmla="val 1538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30084" y="2322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20640" y="28895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assistance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0" y="2907792"/>
            <a:ext cx="617220" cy="237744"/>
          </a:xfrm>
          <a:prstGeom prst="roundRect">
            <a:avLst>
              <a:gd name="adj" fmla="val 1538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30084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20640" y="34564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skills*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0" y="3474720"/>
            <a:ext cx="617220" cy="237744"/>
          </a:xfrm>
          <a:prstGeom prst="roundRect">
            <a:avLst>
              <a:gd name="adj" fmla="val 1538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30084" y="3456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20640" y="41148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*tool use, dialogue, long documents, structured output — chosen to match how the students will actually be used.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9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INSTRUCTIVE FAILURE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student we accidentally taught not to think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distilled model scored below its own starting point. The diagnosis found two self-inflicted causes: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Packaging flattened the teacher's reasoning into plain prose — training literally taught the student to skip its thinking step.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Grading cut every answer off after a sentence — but these models think in paragraphs before concluding. Even the untrained baseline scored a quarter of its known ability.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BF0DC"/>
          </a:solidFill>
          <a:ln w="12700">
            <a:solidFill>
              <a:srgbClr val="FBF0DC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41605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in the pilot phase — instead of after a 100,000-lesson production run.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92040" y="1325880"/>
            <a:ext cx="3703320" cy="1481328"/>
          </a:xfrm>
          <a:prstGeom prst="roundRect">
            <a:avLst>
              <a:gd name="adj" fmla="val 4321"/>
            </a:avLst>
          </a:prstGeom>
          <a:solidFill>
            <a:srgbClr val="FBEBE9"/>
          </a:solidFill>
          <a:ln w="12700">
            <a:solidFill>
              <a:srgbClr val="FBEBE9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53619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0" y="146304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stripped in training; one-line grading window. Scores collapse — the number is an artifact.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739128" y="2871216"/>
            <a:ext cx="0" cy="329184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892040" y="3246120"/>
            <a:ext cx="3703320" cy="1481328"/>
          </a:xfrm>
          <a:prstGeom prst="roundRect">
            <a:avLst>
              <a:gd name="adj" fmla="val 4321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  <a:effectLst>
            <a:outerShdw sx="100000" sy="100000" kx="0" ky="0" algn="bl" rotWithShape="0" blurRad="88900" dist="25400" dir="3600000">
              <a:srgbClr val="1E2761">
                <a:alpha val="14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345643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338328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E7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preserved in the student's own format; graders give room to think. Honest re-measure is the next step.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9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moves to production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2606040"/>
          </a:xfrm>
          <a:prstGeom prst="roundRect">
            <a:avLst>
              <a:gd name="adj" fmla="val 2500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RE-MEASURE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77240" y="19019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v0 number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487168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Re-package with thinking preserved, retrain, re-grade. First check: the baseline must hit its known scores — validating the measuring stick itself.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27248" y="2670048"/>
            <a:ext cx="146304" cy="0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91840" y="1371600"/>
            <a:ext cx="2560320" cy="2606040"/>
          </a:xfrm>
          <a:prstGeom prst="roundRect">
            <a:avLst>
              <a:gd name="adj" fmla="val 2500"/>
            </a:avLst>
          </a:prstGeom>
          <a:solidFill>
            <a:srgbClr val="F1F6FE"/>
          </a:solidFill>
          <a:ln w="12700">
            <a:solidFill>
              <a:srgbClr val="C9D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600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7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VALIDATION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20440" y="19019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 validation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520440" y="2487168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curriculum — new mix, all fixes — exercised end-to-end against the real teacher before the big run.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70448" y="2670048"/>
            <a:ext cx="146304" cy="0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35040" y="1371600"/>
            <a:ext cx="2560320" cy="260604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600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· PRODUCTION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63640" y="19019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run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263640" y="2487168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3-VM fleet · 100–150k lessons · both students in parallel · success = students keep ≥ 75% of teacher quality.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move is gated by the one before it — the same pattern that got the pilot here.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2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PRINCIPLES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playbook is written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2423160" cy="566928"/>
          </a:xfrm>
          <a:prstGeom prst="roundRect">
            <a:avLst>
              <a:gd name="adj" fmla="val 45161"/>
            </a:avLst>
          </a:prstGeom>
          <a:solidFill>
            <a:srgbClr val="273069"/>
          </a:solidFill>
          <a:ln w="12700">
            <a:solidFill>
              <a:srgbClr val="3A44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4028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 tiers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2240280"/>
            <a:ext cx="2423160" cy="566928"/>
          </a:xfrm>
          <a:prstGeom prst="roundRect">
            <a:avLst>
              <a:gd name="adj" fmla="val 45161"/>
            </a:avLst>
          </a:prstGeom>
          <a:solidFill>
            <a:srgbClr val="273069"/>
          </a:solidFill>
          <a:ln w="12700">
            <a:solidFill>
              <a:srgbClr val="3A44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24028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loud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2240280"/>
            <a:ext cx="2423160" cy="566928"/>
          </a:xfrm>
          <a:prstGeom prst="roundRect">
            <a:avLst>
              <a:gd name="adj" fmla="val 45161"/>
            </a:avLst>
          </a:prstGeom>
          <a:solidFill>
            <a:srgbClr val="273069"/>
          </a:solidFill>
          <a:ln w="12700">
            <a:solidFill>
              <a:srgbClr val="3A44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224028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everything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993392" y="2971800"/>
            <a:ext cx="2423160" cy="566928"/>
          </a:xfrm>
          <a:prstGeom prst="roundRect">
            <a:avLst>
              <a:gd name="adj" fmla="val 45161"/>
            </a:avLst>
          </a:prstGeom>
          <a:solidFill>
            <a:srgbClr val="273069"/>
          </a:solidFill>
          <a:ln w="12700">
            <a:solidFill>
              <a:srgbClr val="3A44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297180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results are purchases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90872" y="2971800"/>
            <a:ext cx="2423160" cy="566928"/>
          </a:xfrm>
          <a:prstGeom prst="roundRect">
            <a:avLst>
              <a:gd name="adj" fmla="val 45161"/>
            </a:avLst>
          </a:prstGeom>
          <a:solidFill>
            <a:srgbClr val="273069"/>
          </a:solidFill>
          <a:ln w="12700">
            <a:solidFill>
              <a:srgbClr val="3A44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297180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as you go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3886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giant that can finally teach; two students ready to learn.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stop: the production run.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01000" y="594360"/>
            <a:ext cx="502920" cy="502920"/>
          </a:xfrm>
          <a:prstGeom prst="ellipse">
            <a:avLst/>
          </a:prstGeom>
          <a:solidFill>
            <a:srgbClr val="2A3573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22208" y="1170432"/>
            <a:ext cx="274320" cy="274320"/>
          </a:xfrm>
          <a:prstGeom prst="ellipse">
            <a:avLst/>
          </a:prstGeom>
          <a:solidFill>
            <a:srgbClr val="2230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82128" y="1207008"/>
            <a:ext cx="201168" cy="201168"/>
          </a:xfrm>
          <a:prstGeom prst="ellipse">
            <a:avLst/>
          </a:prstGeom>
          <a:solidFill>
            <a:srgbClr val="223061"/>
          </a:solidFill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Distilling a Giant — GLM-5.2 Pilot Journey</dc:title>
  <dc:subject>PptxGenJS Presentation</dc:subject>
  <dc:creator>Arun</dc:creator>
  <cp:lastModifiedBy>Arun</cp:lastModifiedBy>
  <cp:revision>1</cp:revision>
  <dcterms:created xsi:type="dcterms:W3CDTF">2026-07-06T06:41:58Z</dcterms:created>
  <dcterms:modified xsi:type="dcterms:W3CDTF">2026-07-06T06:41:58Z</dcterms:modified>
</cp:coreProperties>
</file>